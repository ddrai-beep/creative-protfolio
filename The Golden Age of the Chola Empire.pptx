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Public Sans Bold" charset="1" panose="00000000000000000000"/>
      <p:regular r:id="rId10"/>
    </p:embeddedFont>
    <p:embeddedFont>
      <p:font typeface="Public Sans Bold Italics" charset="1" panose="00000000000000000000"/>
      <p:regular r:id="rId11"/>
    </p:embeddedFont>
    <p:embeddedFont>
      <p:font typeface="Public Sans" charset="1" panose="00000000000000000000"/>
      <p:regular r:id="rId12"/>
    </p:embeddedFont>
    <p:embeddedFont>
      <p:font typeface="Public Sans Italics" charset="1" panose="00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https://en.wikipedia.org/wiki/Tamil_dynasties" TargetMode="External" Type="http://schemas.openxmlformats.org/officeDocument/2006/relationships/hyperlink"/><Relationship Id="rId4" Target="https://en.wikipedia.org/wiki/Southern_India" TargetMode="External" Type="http://schemas.openxmlformats.org/officeDocument/2006/relationships/hyperlink"/><Relationship Id="rId5" Target="https://en.wikipedia.org/wiki/Chola_Empire" TargetMode="External" Type="http://schemas.openxmlformats.org/officeDocument/2006/relationships/hyperlink"/><Relationship Id="rId6" Target="https://en.wikipedia.org/wiki/Ashoka" TargetMode="External" Type="http://schemas.openxmlformats.org/officeDocument/2006/relationships/hyperlink"/><Relationship Id="rId7" Target="https://en.wikipedia.org/wiki/Maurya_Empire" TargetMode="External" Type="http://schemas.openxmlformats.org/officeDocument/2006/relationships/hyperlink"/><Relationship Id="rId8" Target="https://en.wikipedia.org/wiki/Medieval_Cholas"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211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12192000" cy="13716000"/>
          </a:xfrm>
        </p:grpSpPr>
        <p:pic>
          <p:nvPicPr>
            <p:cNvPr name="Picture 3" id="3"/>
            <p:cNvPicPr>
              <a:picLocks noChangeAspect="true"/>
            </p:cNvPicPr>
            <p:nvPr/>
          </p:nvPicPr>
          <p:blipFill>
            <a:blip r:embed="rId2"/>
            <a:srcRect l="20361" t="0" r="20361" b="0"/>
            <a:stretch>
              <a:fillRect/>
            </a:stretch>
          </p:blipFill>
          <p:spPr>
            <a:xfrm flipH="false" flipV="false">
              <a:off x="0" y="0"/>
              <a:ext cx="12192000" cy="13716000"/>
            </a:xfrm>
            <a:prstGeom prst="rect">
              <a:avLst/>
            </a:prstGeom>
          </p:spPr>
        </p:pic>
      </p:grpSp>
      <p:sp>
        <p:nvSpPr>
          <p:cNvPr name="TextBox 4" id="4"/>
          <p:cNvSpPr txBox="true"/>
          <p:nvPr/>
        </p:nvSpPr>
        <p:spPr>
          <a:xfrm rot="0">
            <a:off x="10146269" y="7392708"/>
            <a:ext cx="7139461" cy="1374184"/>
          </a:xfrm>
          <a:prstGeom prst="rect">
            <a:avLst/>
          </a:prstGeom>
        </p:spPr>
        <p:txBody>
          <a:bodyPr anchor="t" rtlCol="false" tIns="0" lIns="0" bIns="0" rIns="0">
            <a:spAutoFit/>
          </a:bodyPr>
          <a:lstStyle/>
          <a:p>
            <a:pPr algn="l">
              <a:lnSpc>
                <a:spcPts val="5226"/>
              </a:lnSpc>
            </a:pPr>
            <a:r>
              <a:rPr lang="en-US" sz="5807" spc="-360" b="true">
                <a:solidFill>
                  <a:srgbClr val="FFFFFF"/>
                </a:solidFill>
                <a:latin typeface="Public Sans Bold"/>
                <a:ea typeface="Public Sans Bold"/>
                <a:cs typeface="Public Sans Bold"/>
                <a:sym typeface="Public Sans Bold"/>
              </a:rPr>
              <a:t>The Chola Dynasty - an insight.</a:t>
            </a:r>
          </a:p>
        </p:txBody>
      </p:sp>
      <p:grpSp>
        <p:nvGrpSpPr>
          <p:cNvPr name="Group 5" id="5"/>
          <p:cNvGrpSpPr/>
          <p:nvPr/>
        </p:nvGrpSpPr>
        <p:grpSpPr>
          <a:xfrm rot="0">
            <a:off x="15390857" y="8932907"/>
            <a:ext cx="1868443" cy="325393"/>
            <a:chOff x="0" y="0"/>
            <a:chExt cx="2491257" cy="433857"/>
          </a:xfrm>
        </p:grpSpPr>
        <p:grpSp>
          <p:nvGrpSpPr>
            <p:cNvPr name="Group 6" id="6"/>
            <p:cNvGrpSpPr/>
            <p:nvPr/>
          </p:nvGrpSpPr>
          <p:grpSpPr>
            <a:xfrm rot="0">
              <a:off x="0" y="0"/>
              <a:ext cx="433857" cy="4338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85587" y="0"/>
              <a:ext cx="433857" cy="4338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6A6A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73444" y="0"/>
              <a:ext cx="433857" cy="43385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6A6A6"/>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2057400" y="0"/>
              <a:ext cx="433857" cy="43385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6A6A6"/>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8" id="18"/>
          <p:cNvGrpSpPr/>
          <p:nvPr/>
        </p:nvGrpSpPr>
        <p:grpSpPr>
          <a:xfrm rot="0">
            <a:off x="9134475" y="-653129"/>
            <a:ext cx="1543050" cy="12058493"/>
            <a:chOff x="0" y="0"/>
            <a:chExt cx="406400" cy="3175899"/>
          </a:xfrm>
        </p:grpSpPr>
        <p:sp>
          <p:nvSpPr>
            <p:cNvPr name="Freeform 19" id="19"/>
            <p:cNvSpPr/>
            <p:nvPr/>
          </p:nvSpPr>
          <p:spPr>
            <a:xfrm flipH="false" flipV="false" rot="0">
              <a:off x="0" y="0"/>
              <a:ext cx="406400" cy="3175899"/>
            </a:xfrm>
            <a:custGeom>
              <a:avLst/>
              <a:gdLst/>
              <a:ahLst/>
              <a:cxnLst/>
              <a:rect r="r" b="b" t="t" l="l"/>
              <a:pathLst>
                <a:path h="3175899" w="406400">
                  <a:moveTo>
                    <a:pt x="0" y="0"/>
                  </a:moveTo>
                  <a:lnTo>
                    <a:pt x="406400" y="0"/>
                  </a:lnTo>
                  <a:lnTo>
                    <a:pt x="406400" y="3175899"/>
                  </a:lnTo>
                  <a:lnTo>
                    <a:pt x="0" y="3175899"/>
                  </a:lnTo>
                  <a:close/>
                </a:path>
              </a:pathLst>
            </a:custGeom>
            <a:gradFill rotWithShape="true">
              <a:gsLst>
                <a:gs pos="0">
                  <a:srgbClr val="162118">
                    <a:alpha val="100000"/>
                  </a:srgbClr>
                </a:gs>
                <a:gs pos="100000">
                  <a:srgbClr val="172118">
                    <a:alpha val="0"/>
                  </a:srgbClr>
                </a:gs>
              </a:gsLst>
              <a:lin ang="0"/>
            </a:gradFill>
          </p:spPr>
        </p:sp>
        <p:sp>
          <p:nvSpPr>
            <p:cNvPr name="TextBox 20" id="20"/>
            <p:cNvSpPr txBox="true"/>
            <p:nvPr/>
          </p:nvSpPr>
          <p:spPr>
            <a:xfrm>
              <a:off x="0" y="-38100"/>
              <a:ext cx="406400" cy="321399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81943" y="1928813"/>
            <a:ext cx="8115300" cy="2529214"/>
          </a:xfrm>
          <a:prstGeom prst="rect">
            <a:avLst/>
          </a:prstGeom>
        </p:spPr>
        <p:txBody>
          <a:bodyPr anchor="t" rtlCol="false" tIns="0" lIns="0" bIns="0" rIns="0">
            <a:spAutoFit/>
          </a:bodyPr>
          <a:lstStyle/>
          <a:p>
            <a:pPr algn="l">
              <a:lnSpc>
                <a:spcPts val="9570"/>
              </a:lnSpc>
            </a:pPr>
            <a:r>
              <a:rPr lang="en-US" b="true" sz="10633" i="true" spc="-659">
                <a:solidFill>
                  <a:srgbClr val="F4C9B1"/>
                </a:solidFill>
                <a:latin typeface="Public Sans Bold Italics"/>
                <a:ea typeface="Public Sans Bold Italics"/>
                <a:cs typeface="Public Sans Bold Italics"/>
                <a:sym typeface="Public Sans Bold Italics"/>
              </a:rPr>
              <a:t>THE GOLDEN AGE </a:t>
            </a:r>
          </a:p>
        </p:txBody>
      </p:sp>
      <p:sp>
        <p:nvSpPr>
          <p:cNvPr name="TextBox 22" id="22"/>
          <p:cNvSpPr txBox="true"/>
          <p:nvPr/>
        </p:nvSpPr>
        <p:spPr>
          <a:xfrm rot="0">
            <a:off x="5354667" y="8710137"/>
            <a:ext cx="3242576" cy="335737"/>
          </a:xfrm>
          <a:prstGeom prst="rect">
            <a:avLst/>
          </a:prstGeom>
        </p:spPr>
        <p:txBody>
          <a:bodyPr anchor="t" rtlCol="false" tIns="0" lIns="0" bIns="0" rIns="0">
            <a:spAutoFit/>
          </a:bodyPr>
          <a:lstStyle/>
          <a:p>
            <a:pPr algn="l">
              <a:lnSpc>
                <a:spcPts val="2457"/>
              </a:lnSpc>
            </a:pPr>
            <a:r>
              <a:rPr lang="en-US" sz="2457">
                <a:solidFill>
                  <a:srgbClr val="F4C9B1"/>
                </a:solidFill>
                <a:latin typeface="Public Sans"/>
                <a:ea typeface="Public Sans"/>
                <a:cs typeface="Public Sans"/>
                <a:sym typeface="Public Sans"/>
              </a:rPr>
              <a:t>Adam Drai - NYUAD</a:t>
            </a:r>
          </a:p>
        </p:txBody>
      </p:sp>
      <p:sp>
        <p:nvSpPr>
          <p:cNvPr name="TextBox 23" id="23"/>
          <p:cNvSpPr txBox="true"/>
          <p:nvPr/>
        </p:nvSpPr>
        <p:spPr>
          <a:xfrm rot="0">
            <a:off x="1193445" y="8719662"/>
            <a:ext cx="2612196" cy="375941"/>
          </a:xfrm>
          <a:prstGeom prst="rect">
            <a:avLst/>
          </a:prstGeom>
        </p:spPr>
        <p:txBody>
          <a:bodyPr anchor="t" rtlCol="false" tIns="0" lIns="0" bIns="0" rIns="0">
            <a:spAutoFit/>
          </a:bodyPr>
          <a:lstStyle/>
          <a:p>
            <a:pPr algn="l">
              <a:lnSpc>
                <a:spcPts val="2784"/>
              </a:lnSpc>
            </a:pPr>
            <a:r>
              <a:rPr lang="en-US" sz="2784">
                <a:solidFill>
                  <a:srgbClr val="F4C9B1"/>
                </a:solidFill>
                <a:latin typeface="Public Sans"/>
                <a:ea typeface="Public Sans"/>
                <a:cs typeface="Public Sans"/>
                <a:sym typeface="Public Sans"/>
              </a:rPr>
              <a:t>Next Slide</a:t>
            </a:r>
          </a:p>
        </p:txBody>
      </p:sp>
      <p:sp>
        <p:nvSpPr>
          <p:cNvPr name="TextBox 24" id="24"/>
          <p:cNvSpPr txBox="true"/>
          <p:nvPr/>
        </p:nvSpPr>
        <p:spPr>
          <a:xfrm rot="0">
            <a:off x="983045" y="4658052"/>
            <a:ext cx="5645192" cy="1739520"/>
          </a:xfrm>
          <a:prstGeom prst="rect">
            <a:avLst/>
          </a:prstGeom>
        </p:spPr>
        <p:txBody>
          <a:bodyPr anchor="t" rtlCol="false" tIns="0" lIns="0" bIns="0" rIns="0">
            <a:spAutoFit/>
          </a:bodyPr>
          <a:lstStyle/>
          <a:p>
            <a:pPr algn="just">
              <a:lnSpc>
                <a:spcPts val="6545"/>
              </a:lnSpc>
            </a:pPr>
            <a:r>
              <a:rPr lang="en-US" sz="7272" i="true" spc="-450">
                <a:solidFill>
                  <a:srgbClr val="F4C9B1"/>
                </a:solidFill>
                <a:latin typeface="Public Sans Italics"/>
                <a:ea typeface="Public Sans Italics"/>
                <a:cs typeface="Public Sans Italics"/>
                <a:sym typeface="Public Sans Italics"/>
              </a:rPr>
              <a:t>OF THE TAMIL EMPIRE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2118"/>
        </a:solidFill>
      </p:bgPr>
    </p:bg>
    <p:spTree>
      <p:nvGrpSpPr>
        <p:cNvPr id="1" name=""/>
        <p:cNvGrpSpPr/>
        <p:nvPr/>
      </p:nvGrpSpPr>
      <p:grpSpPr>
        <a:xfrm>
          <a:off x="0" y="0"/>
          <a:ext cx="0" cy="0"/>
          <a:chOff x="0" y="0"/>
          <a:chExt cx="0" cy="0"/>
        </a:xfrm>
      </p:grpSpPr>
      <p:grpSp>
        <p:nvGrpSpPr>
          <p:cNvPr name="Group 2" id="2"/>
          <p:cNvGrpSpPr/>
          <p:nvPr/>
        </p:nvGrpSpPr>
        <p:grpSpPr>
          <a:xfrm rot="0">
            <a:off x="0" y="0"/>
            <a:ext cx="8371470" cy="10287000"/>
            <a:chOff x="0" y="0"/>
            <a:chExt cx="11161959" cy="13716000"/>
          </a:xfrm>
        </p:grpSpPr>
        <p:pic>
          <p:nvPicPr>
            <p:cNvPr name="Picture 3" id="3"/>
            <p:cNvPicPr>
              <a:picLocks noChangeAspect="true"/>
            </p:cNvPicPr>
            <p:nvPr/>
          </p:nvPicPr>
          <p:blipFill>
            <a:blip r:embed="rId2">
              <a:alphaModFix amt="65000"/>
            </a:blip>
            <a:srcRect l="19519" t="0" r="19519" b="0"/>
            <a:stretch>
              <a:fillRect/>
            </a:stretch>
          </p:blipFill>
          <p:spPr>
            <a:xfrm flipH="false" flipV="false">
              <a:off x="0" y="0"/>
              <a:ext cx="11161959" cy="13716000"/>
            </a:xfrm>
            <a:prstGeom prst="rect">
              <a:avLst/>
            </a:prstGeom>
          </p:spPr>
        </p:pic>
      </p:grpSp>
      <p:grpSp>
        <p:nvGrpSpPr>
          <p:cNvPr name="Group 4" id="4"/>
          <p:cNvGrpSpPr/>
          <p:nvPr/>
        </p:nvGrpSpPr>
        <p:grpSpPr>
          <a:xfrm rot="0">
            <a:off x="6847470" y="-885746"/>
            <a:ext cx="1543050" cy="12058493"/>
            <a:chOff x="0" y="0"/>
            <a:chExt cx="406400" cy="3175899"/>
          </a:xfrm>
        </p:grpSpPr>
        <p:sp>
          <p:nvSpPr>
            <p:cNvPr name="Freeform 5" id="5"/>
            <p:cNvSpPr/>
            <p:nvPr/>
          </p:nvSpPr>
          <p:spPr>
            <a:xfrm flipH="false" flipV="false" rot="0">
              <a:off x="0" y="0"/>
              <a:ext cx="406400" cy="3175899"/>
            </a:xfrm>
            <a:custGeom>
              <a:avLst/>
              <a:gdLst/>
              <a:ahLst/>
              <a:cxnLst/>
              <a:rect r="r" b="b" t="t" l="l"/>
              <a:pathLst>
                <a:path h="3175899" w="406400">
                  <a:moveTo>
                    <a:pt x="0" y="0"/>
                  </a:moveTo>
                  <a:lnTo>
                    <a:pt x="406400" y="0"/>
                  </a:lnTo>
                  <a:lnTo>
                    <a:pt x="406400" y="3175899"/>
                  </a:lnTo>
                  <a:lnTo>
                    <a:pt x="0" y="3175899"/>
                  </a:lnTo>
                  <a:close/>
                </a:path>
              </a:pathLst>
            </a:custGeom>
            <a:gradFill rotWithShape="true">
              <a:gsLst>
                <a:gs pos="0">
                  <a:srgbClr val="162118">
                    <a:alpha val="0"/>
                  </a:srgbClr>
                </a:gs>
                <a:gs pos="100000">
                  <a:srgbClr val="172118">
                    <a:alpha val="100000"/>
                  </a:srgbClr>
                </a:gs>
              </a:gsLst>
              <a:lin ang="0"/>
            </a:gradFill>
          </p:spPr>
        </p:sp>
        <p:sp>
          <p:nvSpPr>
            <p:cNvPr name="TextBox 6" id="6"/>
            <p:cNvSpPr txBox="true"/>
            <p:nvPr/>
          </p:nvSpPr>
          <p:spPr>
            <a:xfrm>
              <a:off x="0" y="-38100"/>
              <a:ext cx="406400" cy="3213999"/>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9371161" y="1933032"/>
            <a:ext cx="6561206" cy="1067449"/>
          </a:xfrm>
          <a:prstGeom prst="rect">
            <a:avLst/>
          </a:prstGeom>
        </p:spPr>
        <p:txBody>
          <a:bodyPr anchor="t" rtlCol="false" tIns="0" lIns="0" bIns="0" rIns="0">
            <a:spAutoFit/>
          </a:bodyPr>
          <a:lstStyle/>
          <a:p>
            <a:pPr algn="l">
              <a:lnSpc>
                <a:spcPts val="7737"/>
              </a:lnSpc>
            </a:pPr>
            <a:r>
              <a:rPr lang="en-US" b="true" sz="8597" i="true" spc="-533">
                <a:solidFill>
                  <a:srgbClr val="F4C9B1"/>
                </a:solidFill>
                <a:latin typeface="Public Sans Bold Italics"/>
                <a:ea typeface="Public Sans Bold Italics"/>
                <a:cs typeface="Public Sans Bold Italics"/>
                <a:sym typeface="Public Sans Bold Italics"/>
              </a:rPr>
              <a:t>I</a:t>
            </a:r>
            <a:r>
              <a:rPr lang="en-US" sz="8597" spc="-533" b="true">
                <a:solidFill>
                  <a:srgbClr val="F4C9B1"/>
                </a:solidFill>
                <a:latin typeface="Public Sans Bold"/>
                <a:ea typeface="Public Sans Bold"/>
                <a:cs typeface="Public Sans Bold"/>
                <a:sym typeface="Public Sans Bold"/>
              </a:rPr>
              <a:t>ntroduction</a:t>
            </a:r>
          </a:p>
        </p:txBody>
      </p:sp>
      <p:sp>
        <p:nvSpPr>
          <p:cNvPr name="TextBox 8" id="8"/>
          <p:cNvSpPr txBox="true"/>
          <p:nvPr/>
        </p:nvSpPr>
        <p:spPr>
          <a:xfrm rot="0">
            <a:off x="9770866" y="3254198"/>
            <a:ext cx="6414682" cy="3816705"/>
          </a:xfrm>
          <a:prstGeom prst="rect">
            <a:avLst/>
          </a:prstGeom>
        </p:spPr>
        <p:txBody>
          <a:bodyPr anchor="t" rtlCol="false" tIns="0" lIns="0" bIns="0" rIns="0">
            <a:spAutoFit/>
          </a:bodyPr>
          <a:lstStyle/>
          <a:p>
            <a:pPr algn="l">
              <a:lnSpc>
                <a:spcPts val="2493"/>
              </a:lnSpc>
            </a:pPr>
            <a:r>
              <a:rPr lang="en-US" sz="2493">
                <a:solidFill>
                  <a:srgbClr val="F4C9B1"/>
                </a:solidFill>
                <a:latin typeface="Public Sans"/>
                <a:ea typeface="Public Sans"/>
                <a:cs typeface="Public Sans"/>
                <a:sym typeface="Public Sans"/>
              </a:rPr>
              <a:t>The Chola dynasty</a:t>
            </a:r>
            <a:r>
              <a:rPr lang="en-US" sz="2493">
                <a:solidFill>
                  <a:srgbClr val="F4C9B1"/>
                </a:solidFill>
                <a:latin typeface="Public Sans"/>
                <a:ea typeface="Public Sans"/>
                <a:cs typeface="Public Sans"/>
                <a:sym typeface="Public Sans"/>
              </a:rPr>
              <a:t> was a </a:t>
            </a:r>
            <a:r>
              <a:rPr lang="en-US" sz="2493">
                <a:solidFill>
                  <a:srgbClr val="F4C9B1"/>
                </a:solidFill>
                <a:latin typeface="Public Sans"/>
                <a:ea typeface="Public Sans"/>
                <a:cs typeface="Public Sans"/>
                <a:sym typeface="Public Sans"/>
                <a:hlinkClick r:id="rId3" tooltip="https://en.wikipedia.org/wiki/Tamil_dynasties"/>
              </a:rPr>
              <a:t>Tamil dynasty</a:t>
            </a:r>
            <a:r>
              <a:rPr lang="en-US" sz="2493">
                <a:solidFill>
                  <a:srgbClr val="F4C9B1"/>
                </a:solidFill>
                <a:latin typeface="Public Sans"/>
                <a:ea typeface="Public Sans"/>
                <a:cs typeface="Public Sans"/>
                <a:sym typeface="Public Sans"/>
              </a:rPr>
              <a:t> originating from </a:t>
            </a:r>
            <a:r>
              <a:rPr lang="en-US" sz="2493">
                <a:solidFill>
                  <a:srgbClr val="F4C9B1"/>
                </a:solidFill>
                <a:latin typeface="Public Sans"/>
                <a:ea typeface="Public Sans"/>
                <a:cs typeface="Public Sans"/>
                <a:sym typeface="Public Sans"/>
                <a:hlinkClick r:id="rId4" tooltip="https://en.wikipedia.org/wiki/Southern_India"/>
              </a:rPr>
              <a:t>Southern India</a:t>
            </a:r>
            <a:r>
              <a:rPr lang="en-US" sz="2493">
                <a:solidFill>
                  <a:srgbClr val="F4C9B1"/>
                </a:solidFill>
                <a:latin typeface="Public Sans"/>
                <a:ea typeface="Public Sans"/>
                <a:cs typeface="Public Sans"/>
                <a:sym typeface="Public Sans"/>
              </a:rPr>
              <a:t>. At its height, it ruled over the </a:t>
            </a:r>
            <a:r>
              <a:rPr lang="en-US" sz="2493">
                <a:solidFill>
                  <a:srgbClr val="F4C9B1"/>
                </a:solidFill>
                <a:latin typeface="Public Sans"/>
                <a:ea typeface="Public Sans"/>
                <a:cs typeface="Public Sans"/>
                <a:sym typeface="Public Sans"/>
                <a:hlinkClick r:id="rId5" tooltip="https://en.wikipedia.org/wiki/Chola_Empire"/>
              </a:rPr>
              <a:t>Chola Empire</a:t>
            </a:r>
            <a:r>
              <a:rPr lang="en-US" sz="2493">
                <a:solidFill>
                  <a:srgbClr val="F4C9B1"/>
                </a:solidFill>
                <a:latin typeface="Public Sans"/>
                <a:ea typeface="Public Sans"/>
                <a:cs typeface="Public Sans"/>
                <a:sym typeface="Public Sans"/>
              </a:rPr>
              <a:t>, considered the golden age of the Tamil empire . The earliest datable references to the Chola are from inscriptions dated to the 3rd century BCE during the reign of </a:t>
            </a:r>
            <a:r>
              <a:rPr lang="en-US" sz="2493">
                <a:solidFill>
                  <a:srgbClr val="F4C9B1"/>
                </a:solidFill>
                <a:latin typeface="Public Sans"/>
                <a:ea typeface="Public Sans"/>
                <a:cs typeface="Public Sans"/>
                <a:sym typeface="Public Sans"/>
                <a:hlinkClick r:id="rId6" tooltip="https://en.wikipedia.org/wiki/Ashoka"/>
              </a:rPr>
              <a:t>Ashoka</a:t>
            </a:r>
            <a:r>
              <a:rPr lang="en-US" sz="2493">
                <a:solidFill>
                  <a:srgbClr val="F4C9B1"/>
                </a:solidFill>
                <a:latin typeface="Public Sans"/>
                <a:ea typeface="Public Sans"/>
                <a:cs typeface="Public Sans"/>
                <a:sym typeface="Public Sans"/>
              </a:rPr>
              <a:t> of the </a:t>
            </a:r>
            <a:r>
              <a:rPr lang="en-US" sz="2493">
                <a:solidFill>
                  <a:srgbClr val="F4C9B1"/>
                </a:solidFill>
                <a:latin typeface="Public Sans"/>
                <a:ea typeface="Public Sans"/>
                <a:cs typeface="Public Sans"/>
                <a:sym typeface="Public Sans"/>
                <a:hlinkClick r:id="rId7" tooltip="https://en.wikipedia.org/wiki/Maurya_Empire"/>
              </a:rPr>
              <a:t>Maurya Empire</a:t>
            </a:r>
            <a:r>
              <a:rPr lang="en-US" sz="2493">
                <a:solidFill>
                  <a:srgbClr val="F4C9B1"/>
                </a:solidFill>
                <a:latin typeface="Public Sans"/>
                <a:ea typeface="Public Sans"/>
                <a:cs typeface="Public Sans"/>
                <a:sym typeface="Public Sans"/>
              </a:rPr>
              <a:t>. </a:t>
            </a:r>
          </a:p>
          <a:p>
            <a:pPr algn="l">
              <a:lnSpc>
                <a:spcPts val="2493"/>
              </a:lnSpc>
            </a:pPr>
          </a:p>
          <a:p>
            <a:pPr algn="l">
              <a:lnSpc>
                <a:spcPts val="2493"/>
              </a:lnSpc>
            </a:pPr>
            <a:r>
              <a:rPr lang="en-US" sz="2493">
                <a:solidFill>
                  <a:srgbClr val="F4C9B1"/>
                </a:solidFill>
                <a:latin typeface="Public Sans"/>
                <a:ea typeface="Public Sans"/>
                <a:cs typeface="Public Sans"/>
                <a:sym typeface="Public Sans"/>
              </a:rPr>
              <a:t>The Chola empire was at its peak and achieved imperialism under the </a:t>
            </a:r>
            <a:r>
              <a:rPr lang="en-US" sz="2493">
                <a:solidFill>
                  <a:srgbClr val="F4C9B1"/>
                </a:solidFill>
                <a:latin typeface="Public Sans"/>
                <a:ea typeface="Public Sans"/>
                <a:cs typeface="Public Sans"/>
                <a:sym typeface="Public Sans"/>
                <a:hlinkClick r:id="rId8" tooltip="https://en.wikipedia.org/wiki/Medieval_Cholas"/>
              </a:rPr>
              <a:t>Medieval Cholas</a:t>
            </a:r>
            <a:r>
              <a:rPr lang="en-US" sz="2493">
                <a:solidFill>
                  <a:srgbClr val="F4C9B1"/>
                </a:solidFill>
                <a:latin typeface="Public Sans"/>
                <a:ea typeface="Public Sans"/>
                <a:cs typeface="Public Sans"/>
                <a:sym typeface="Public Sans"/>
              </a:rPr>
              <a:t> in the mid-9th century CE. </a:t>
            </a:r>
          </a:p>
        </p:txBody>
      </p:sp>
      <p:sp>
        <p:nvSpPr>
          <p:cNvPr name="TextBox 9" id="9"/>
          <p:cNvSpPr txBox="true"/>
          <p:nvPr/>
        </p:nvSpPr>
        <p:spPr>
          <a:xfrm rot="0">
            <a:off x="9371161" y="8532378"/>
            <a:ext cx="2612196" cy="375941"/>
          </a:xfrm>
          <a:prstGeom prst="rect">
            <a:avLst/>
          </a:prstGeom>
        </p:spPr>
        <p:txBody>
          <a:bodyPr anchor="t" rtlCol="false" tIns="0" lIns="0" bIns="0" rIns="0">
            <a:spAutoFit/>
          </a:bodyPr>
          <a:lstStyle/>
          <a:p>
            <a:pPr algn="l">
              <a:lnSpc>
                <a:spcPts val="2784"/>
              </a:lnSpc>
            </a:pPr>
            <a:r>
              <a:rPr lang="en-US" sz="2784">
                <a:solidFill>
                  <a:srgbClr val="F4C9B1"/>
                </a:solidFill>
                <a:latin typeface="Public Sans"/>
                <a:ea typeface="Public Sans"/>
                <a:cs typeface="Public Sans"/>
                <a:sym typeface="Public Sans"/>
              </a:rPr>
              <a:t>Next Slide</a:t>
            </a:r>
          </a:p>
        </p:txBody>
      </p:sp>
      <p:grpSp>
        <p:nvGrpSpPr>
          <p:cNvPr name="Group 10" id="10"/>
          <p:cNvGrpSpPr/>
          <p:nvPr/>
        </p:nvGrpSpPr>
        <p:grpSpPr>
          <a:xfrm rot="0">
            <a:off x="1028700" y="8908319"/>
            <a:ext cx="1868443" cy="325393"/>
            <a:chOff x="0" y="0"/>
            <a:chExt cx="2491257" cy="433857"/>
          </a:xfrm>
        </p:grpSpPr>
        <p:grpSp>
          <p:nvGrpSpPr>
            <p:cNvPr name="Group 11" id="11"/>
            <p:cNvGrpSpPr/>
            <p:nvPr/>
          </p:nvGrpSpPr>
          <p:grpSpPr>
            <a:xfrm rot="0">
              <a:off x="0" y="0"/>
              <a:ext cx="433857" cy="43385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685587" y="0"/>
              <a:ext cx="433857" cy="43385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373444" y="0"/>
              <a:ext cx="433857" cy="43385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2057400" y="0"/>
              <a:ext cx="433857" cy="43385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6211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423731"/>
            <a:chOff x="0" y="0"/>
            <a:chExt cx="24384000" cy="5898308"/>
          </a:xfrm>
        </p:grpSpPr>
        <p:pic>
          <p:nvPicPr>
            <p:cNvPr name="Picture 3" id="3"/>
            <p:cNvPicPr>
              <a:picLocks noChangeAspect="true"/>
            </p:cNvPicPr>
            <p:nvPr/>
          </p:nvPicPr>
          <p:blipFill>
            <a:blip r:embed="rId2">
              <a:alphaModFix amt="65000"/>
            </a:blip>
            <a:srcRect l="0" t="28450" r="0" b="28450"/>
            <a:stretch>
              <a:fillRect/>
            </a:stretch>
          </p:blipFill>
          <p:spPr>
            <a:xfrm flipH="false" flipV="false">
              <a:off x="0" y="0"/>
              <a:ext cx="24384000" cy="5898308"/>
            </a:xfrm>
            <a:prstGeom prst="rect">
              <a:avLst/>
            </a:prstGeom>
          </p:spPr>
        </p:pic>
      </p:grpSp>
      <p:grpSp>
        <p:nvGrpSpPr>
          <p:cNvPr name="Group 4" id="4"/>
          <p:cNvGrpSpPr/>
          <p:nvPr/>
        </p:nvGrpSpPr>
        <p:grpSpPr>
          <a:xfrm rot="5400000">
            <a:off x="8372475" y="-6450470"/>
            <a:ext cx="1543050" cy="20205351"/>
            <a:chOff x="0" y="0"/>
            <a:chExt cx="406400" cy="5321574"/>
          </a:xfrm>
        </p:grpSpPr>
        <p:sp>
          <p:nvSpPr>
            <p:cNvPr name="Freeform 5" id="5"/>
            <p:cNvSpPr/>
            <p:nvPr/>
          </p:nvSpPr>
          <p:spPr>
            <a:xfrm flipH="false" flipV="false" rot="0">
              <a:off x="0" y="0"/>
              <a:ext cx="406400" cy="5321574"/>
            </a:xfrm>
            <a:custGeom>
              <a:avLst/>
              <a:gdLst/>
              <a:ahLst/>
              <a:cxnLst/>
              <a:rect r="r" b="b" t="t" l="l"/>
              <a:pathLst>
                <a:path h="5321574" w="406400">
                  <a:moveTo>
                    <a:pt x="0" y="0"/>
                  </a:moveTo>
                  <a:lnTo>
                    <a:pt x="406400" y="0"/>
                  </a:lnTo>
                  <a:lnTo>
                    <a:pt x="406400" y="5321574"/>
                  </a:lnTo>
                  <a:lnTo>
                    <a:pt x="0" y="5321574"/>
                  </a:lnTo>
                  <a:close/>
                </a:path>
              </a:pathLst>
            </a:custGeom>
            <a:gradFill rotWithShape="true">
              <a:gsLst>
                <a:gs pos="0">
                  <a:srgbClr val="162118">
                    <a:alpha val="0"/>
                  </a:srgbClr>
                </a:gs>
                <a:gs pos="100000">
                  <a:srgbClr val="172118">
                    <a:alpha val="100000"/>
                  </a:srgbClr>
                </a:gs>
              </a:gsLst>
              <a:lin ang="0"/>
            </a:gradFill>
          </p:spPr>
        </p:sp>
        <p:sp>
          <p:nvSpPr>
            <p:cNvPr name="TextBox 6" id="6"/>
            <p:cNvSpPr txBox="true"/>
            <p:nvPr/>
          </p:nvSpPr>
          <p:spPr>
            <a:xfrm>
              <a:off x="0" y="-38100"/>
              <a:ext cx="406400" cy="5359674"/>
            </a:xfrm>
            <a:prstGeom prst="rect">
              <a:avLst/>
            </a:prstGeom>
          </p:spPr>
          <p:txBody>
            <a:bodyPr anchor="ctr" rtlCol="false" tIns="50800" lIns="50800" bIns="50800" rIns="50800"/>
            <a:lstStyle/>
            <a:p>
              <a:pPr algn="ctr">
                <a:lnSpc>
                  <a:spcPts val="2659"/>
                </a:lnSpc>
              </a:pPr>
            </a:p>
          </p:txBody>
        </p:sp>
      </p:grpSp>
      <p:sp>
        <p:nvSpPr>
          <p:cNvPr name="AutoShape 7" id="7"/>
          <p:cNvSpPr/>
          <p:nvPr/>
        </p:nvSpPr>
        <p:spPr>
          <a:xfrm>
            <a:off x="491407" y="5170948"/>
            <a:ext cx="0" cy="4087352"/>
          </a:xfrm>
          <a:prstGeom prst="line">
            <a:avLst/>
          </a:prstGeom>
          <a:ln cap="flat" w="38100">
            <a:solidFill>
              <a:srgbClr val="F4C9B1"/>
            </a:solidFill>
            <a:prstDash val="solid"/>
            <a:headEnd type="none" len="sm" w="sm"/>
            <a:tailEnd type="none" len="sm" w="sm"/>
          </a:ln>
        </p:spPr>
      </p:sp>
      <p:sp>
        <p:nvSpPr>
          <p:cNvPr name="AutoShape 8" id="8"/>
          <p:cNvSpPr/>
          <p:nvPr/>
        </p:nvSpPr>
        <p:spPr>
          <a:xfrm>
            <a:off x="5935420" y="4030935"/>
            <a:ext cx="0" cy="4087352"/>
          </a:xfrm>
          <a:prstGeom prst="line">
            <a:avLst/>
          </a:prstGeom>
          <a:ln cap="flat" w="38100">
            <a:solidFill>
              <a:srgbClr val="F4C9B1"/>
            </a:solidFill>
            <a:prstDash val="solid"/>
            <a:headEnd type="none" len="sm" w="sm"/>
            <a:tailEnd type="none" len="sm" w="sm"/>
          </a:ln>
        </p:spPr>
      </p:sp>
      <p:grpSp>
        <p:nvGrpSpPr>
          <p:cNvPr name="Group 9" id="9"/>
          <p:cNvGrpSpPr/>
          <p:nvPr/>
        </p:nvGrpSpPr>
        <p:grpSpPr>
          <a:xfrm rot="0">
            <a:off x="12700803" y="1437298"/>
            <a:ext cx="4558497" cy="7406106"/>
            <a:chOff x="0" y="0"/>
            <a:chExt cx="6077996" cy="9874808"/>
          </a:xfrm>
        </p:grpSpPr>
        <p:pic>
          <p:nvPicPr>
            <p:cNvPr name="Picture 10" id="10"/>
            <p:cNvPicPr>
              <a:picLocks noChangeAspect="true"/>
            </p:cNvPicPr>
            <p:nvPr/>
          </p:nvPicPr>
          <p:blipFill>
            <a:blip r:embed="rId3"/>
            <a:srcRect l="689" t="0" r="689" b="0"/>
            <a:stretch>
              <a:fillRect/>
            </a:stretch>
          </p:blipFill>
          <p:spPr>
            <a:xfrm flipH="false" flipV="false">
              <a:off x="0" y="0"/>
              <a:ext cx="6077996" cy="9874808"/>
            </a:xfrm>
            <a:prstGeom prst="rect">
              <a:avLst/>
            </a:prstGeom>
          </p:spPr>
        </p:pic>
      </p:grpSp>
      <p:grpSp>
        <p:nvGrpSpPr>
          <p:cNvPr name="Group 11" id="11"/>
          <p:cNvGrpSpPr/>
          <p:nvPr/>
        </p:nvGrpSpPr>
        <p:grpSpPr>
          <a:xfrm rot="0">
            <a:off x="15390857" y="9068156"/>
            <a:ext cx="1868443" cy="325393"/>
            <a:chOff x="0" y="0"/>
            <a:chExt cx="2491257" cy="433857"/>
          </a:xfrm>
        </p:grpSpPr>
        <p:grpSp>
          <p:nvGrpSpPr>
            <p:cNvPr name="Group 12" id="12"/>
            <p:cNvGrpSpPr/>
            <p:nvPr/>
          </p:nvGrpSpPr>
          <p:grpSpPr>
            <a:xfrm rot="0">
              <a:off x="0" y="0"/>
              <a:ext cx="433857" cy="43385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85587" y="0"/>
              <a:ext cx="433857" cy="43385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73444" y="0"/>
              <a:ext cx="433857" cy="43385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2057400" y="0"/>
              <a:ext cx="433857" cy="43385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C9B1">
                  <a:alpha val="49804"/>
                </a:srgbClr>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24" id="24"/>
          <p:cNvSpPr txBox="true"/>
          <p:nvPr/>
        </p:nvSpPr>
        <p:spPr>
          <a:xfrm rot="0">
            <a:off x="472357" y="1321330"/>
            <a:ext cx="9714444" cy="2019196"/>
          </a:xfrm>
          <a:prstGeom prst="rect">
            <a:avLst/>
          </a:prstGeom>
        </p:spPr>
        <p:txBody>
          <a:bodyPr anchor="t" rtlCol="false" tIns="0" lIns="0" bIns="0" rIns="0">
            <a:spAutoFit/>
          </a:bodyPr>
          <a:lstStyle/>
          <a:p>
            <a:pPr algn="l">
              <a:lnSpc>
                <a:spcPts val="7737"/>
              </a:lnSpc>
            </a:pPr>
            <a:r>
              <a:rPr lang="en-US" b="true" sz="8597" i="true" spc="-533">
                <a:solidFill>
                  <a:srgbClr val="F4C9B1"/>
                </a:solidFill>
                <a:latin typeface="Public Sans Bold Italics"/>
                <a:ea typeface="Public Sans Bold Italics"/>
                <a:cs typeface="Public Sans Bold Italics"/>
                <a:sym typeface="Public Sans Bold Italics"/>
              </a:rPr>
              <a:t>Imperial Chola    </a:t>
            </a:r>
          </a:p>
          <a:p>
            <a:pPr algn="l">
              <a:lnSpc>
                <a:spcPts val="7557"/>
              </a:lnSpc>
            </a:pPr>
            <a:r>
              <a:rPr lang="en-US" b="true" sz="8397" i="true" spc="-520">
                <a:solidFill>
                  <a:srgbClr val="F4C9B1"/>
                </a:solidFill>
                <a:latin typeface="Public Sans Bold Italics"/>
                <a:ea typeface="Public Sans Bold Italics"/>
                <a:cs typeface="Public Sans Bold Italics"/>
                <a:sym typeface="Public Sans Bold Italics"/>
              </a:rPr>
              <a:t>       A Golden  Age</a:t>
            </a:r>
          </a:p>
        </p:txBody>
      </p:sp>
      <p:sp>
        <p:nvSpPr>
          <p:cNvPr name="TextBox 25" id="25"/>
          <p:cNvSpPr txBox="true"/>
          <p:nvPr/>
        </p:nvSpPr>
        <p:spPr>
          <a:xfrm rot="0">
            <a:off x="913106" y="6263732"/>
            <a:ext cx="4479198" cy="2395337"/>
          </a:xfrm>
          <a:prstGeom prst="rect">
            <a:avLst/>
          </a:prstGeom>
        </p:spPr>
        <p:txBody>
          <a:bodyPr anchor="t" rtlCol="false" tIns="0" lIns="0" bIns="0" rIns="0">
            <a:spAutoFit/>
          </a:bodyPr>
          <a:lstStyle/>
          <a:p>
            <a:pPr algn="l">
              <a:lnSpc>
                <a:spcPts val="2666"/>
              </a:lnSpc>
            </a:pPr>
            <a:r>
              <a:rPr lang="en-US" sz="2666">
                <a:solidFill>
                  <a:srgbClr val="F4C9B1"/>
                </a:solidFill>
                <a:latin typeface="Public Sans"/>
                <a:ea typeface="Public Sans"/>
                <a:cs typeface="Public Sans"/>
                <a:sym typeface="Public Sans"/>
              </a:rPr>
              <a:t>At its height, the Chola empire thrived in its  works of literature. Chola records cite many works, including the Rajarajesvara Natakam, Viranukkaviyamand Kannivana Puranam.</a:t>
            </a:r>
          </a:p>
        </p:txBody>
      </p:sp>
      <p:sp>
        <p:nvSpPr>
          <p:cNvPr name="TextBox 26" id="26"/>
          <p:cNvSpPr txBox="true"/>
          <p:nvPr/>
        </p:nvSpPr>
        <p:spPr>
          <a:xfrm rot="0">
            <a:off x="773405" y="5218573"/>
            <a:ext cx="4758600" cy="708052"/>
          </a:xfrm>
          <a:prstGeom prst="rect">
            <a:avLst/>
          </a:prstGeom>
        </p:spPr>
        <p:txBody>
          <a:bodyPr anchor="t" rtlCol="false" tIns="0" lIns="0" bIns="0" rIns="0">
            <a:spAutoFit/>
          </a:bodyPr>
          <a:lstStyle/>
          <a:p>
            <a:pPr algn="l">
              <a:lnSpc>
                <a:spcPts val="2737"/>
              </a:lnSpc>
            </a:pPr>
            <a:r>
              <a:rPr lang="en-US" b="true" sz="2737" i="true">
                <a:solidFill>
                  <a:srgbClr val="F4C9B1"/>
                </a:solidFill>
                <a:latin typeface="Public Sans Bold Italics"/>
                <a:ea typeface="Public Sans Bold Italics"/>
                <a:cs typeface="Public Sans Bold Italics"/>
                <a:sym typeface="Public Sans Bold Italics"/>
              </a:rPr>
              <a:t>THE SIGNIFICANCE OF LITERATURE</a:t>
            </a:r>
          </a:p>
        </p:txBody>
      </p:sp>
      <p:sp>
        <p:nvSpPr>
          <p:cNvPr name="TextBox 27" id="27"/>
          <p:cNvSpPr txBox="true"/>
          <p:nvPr/>
        </p:nvSpPr>
        <p:spPr>
          <a:xfrm rot="0">
            <a:off x="9306416" y="9441174"/>
            <a:ext cx="2612196" cy="375941"/>
          </a:xfrm>
          <a:prstGeom prst="rect">
            <a:avLst/>
          </a:prstGeom>
        </p:spPr>
        <p:txBody>
          <a:bodyPr anchor="t" rtlCol="false" tIns="0" lIns="0" bIns="0" rIns="0">
            <a:spAutoFit/>
          </a:bodyPr>
          <a:lstStyle/>
          <a:p>
            <a:pPr algn="l">
              <a:lnSpc>
                <a:spcPts val="2784"/>
              </a:lnSpc>
            </a:pPr>
            <a:r>
              <a:rPr lang="en-US" sz="2784">
                <a:solidFill>
                  <a:srgbClr val="F4C9B1"/>
                </a:solidFill>
                <a:latin typeface="Public Sans"/>
                <a:ea typeface="Public Sans"/>
                <a:cs typeface="Public Sans"/>
                <a:sym typeface="Public Sans"/>
              </a:rPr>
              <a:t>Next Slide</a:t>
            </a:r>
          </a:p>
        </p:txBody>
      </p:sp>
      <p:sp>
        <p:nvSpPr>
          <p:cNvPr name="TextBox 28" id="28"/>
          <p:cNvSpPr txBox="true"/>
          <p:nvPr/>
        </p:nvSpPr>
        <p:spPr>
          <a:xfrm rot="0">
            <a:off x="6176719" y="4078560"/>
            <a:ext cx="4758600" cy="708052"/>
          </a:xfrm>
          <a:prstGeom prst="rect">
            <a:avLst/>
          </a:prstGeom>
        </p:spPr>
        <p:txBody>
          <a:bodyPr anchor="t" rtlCol="false" tIns="0" lIns="0" bIns="0" rIns="0">
            <a:spAutoFit/>
          </a:bodyPr>
          <a:lstStyle/>
          <a:p>
            <a:pPr algn="l">
              <a:lnSpc>
                <a:spcPts val="2737"/>
              </a:lnSpc>
            </a:pPr>
            <a:r>
              <a:rPr lang="en-US" b="true" sz="2737" i="true">
                <a:solidFill>
                  <a:srgbClr val="F4C9B1"/>
                </a:solidFill>
                <a:latin typeface="Public Sans Bold Italics"/>
                <a:ea typeface="Public Sans Bold Italics"/>
                <a:cs typeface="Public Sans Bold Italics"/>
                <a:sym typeface="Public Sans Bold Italics"/>
              </a:rPr>
              <a:t>THE SIGNIFICANCE OF LITERATURE</a:t>
            </a:r>
          </a:p>
        </p:txBody>
      </p:sp>
      <p:sp>
        <p:nvSpPr>
          <p:cNvPr name="TextBox 29" id="29"/>
          <p:cNvSpPr txBox="true"/>
          <p:nvPr/>
        </p:nvSpPr>
        <p:spPr>
          <a:xfrm rot="0">
            <a:off x="6221170" y="5164885"/>
            <a:ext cx="5230736" cy="3458894"/>
          </a:xfrm>
          <a:prstGeom prst="rect">
            <a:avLst/>
          </a:prstGeom>
        </p:spPr>
        <p:txBody>
          <a:bodyPr anchor="t" rtlCol="false" tIns="0" lIns="0" bIns="0" rIns="0">
            <a:spAutoFit/>
          </a:bodyPr>
          <a:lstStyle/>
          <a:p>
            <a:pPr algn="l">
              <a:lnSpc>
                <a:spcPts val="2084"/>
              </a:lnSpc>
            </a:pPr>
            <a:r>
              <a:rPr lang="en-US" sz="2084">
                <a:solidFill>
                  <a:srgbClr val="F4C9B1"/>
                </a:solidFill>
                <a:latin typeface="Public Sans"/>
                <a:ea typeface="Public Sans"/>
                <a:cs typeface="Public Sans"/>
                <a:sym typeface="Public Sans"/>
              </a:rPr>
              <a:t>Deep works of philosophy and grammar such as Commentaries on the great text Tolkāppiyam which dealt with grammar and ethics of warfare.</a:t>
            </a:r>
          </a:p>
          <a:p>
            <a:pPr algn="l">
              <a:lnSpc>
                <a:spcPts val="2084"/>
              </a:lnSpc>
            </a:pPr>
          </a:p>
          <a:p>
            <a:pPr algn="l">
              <a:lnSpc>
                <a:spcPts val="2084"/>
              </a:lnSpc>
            </a:pPr>
            <a:r>
              <a:rPr lang="en-US" sz="2084">
                <a:solidFill>
                  <a:srgbClr val="F4C9B1"/>
                </a:solidFill>
                <a:latin typeface="Public Sans"/>
                <a:ea typeface="Public Sans"/>
                <a:cs typeface="Public Sans"/>
                <a:sym typeface="Public Sans"/>
              </a:rPr>
              <a:t>Periapuranam was another remarkable literary piece of this period. This work is in a sense a national epic of the Tamil people because it treats the lives of the saints who lived in all parts of Tamil Nadu and belonged to all classes of society, men and women, high and low, educated and uneducated.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4845E">
                <a:alpha val="100000"/>
              </a:srgbClr>
            </a:gs>
            <a:gs pos="100000">
              <a:srgbClr val="7A163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8545565" y="1774508"/>
            <a:ext cx="8505035" cy="6281480"/>
            <a:chOff x="0" y="0"/>
            <a:chExt cx="6705600" cy="4952489"/>
          </a:xfrm>
        </p:grpSpPr>
        <p:sp>
          <p:nvSpPr>
            <p:cNvPr name="Freeform 3" id="3"/>
            <p:cNvSpPr/>
            <p:nvPr/>
          </p:nvSpPr>
          <p:spPr>
            <a:xfrm flipH="false" flipV="false" rot="0">
              <a:off x="0" y="23622"/>
              <a:ext cx="6705600" cy="4905232"/>
            </a:xfrm>
            <a:custGeom>
              <a:avLst/>
              <a:gdLst/>
              <a:ahLst/>
              <a:cxnLst/>
              <a:rect r="r" b="b" t="t" l="l"/>
              <a:pathLst>
                <a:path h="4905232" w="6705600">
                  <a:moveTo>
                    <a:pt x="4471670" y="165219"/>
                  </a:moveTo>
                  <a:lnTo>
                    <a:pt x="4471670" y="165219"/>
                  </a:lnTo>
                  <a:cubicBezTo>
                    <a:pt x="4471670" y="118237"/>
                    <a:pt x="4450973" y="73641"/>
                    <a:pt x="4415092" y="43312"/>
                  </a:cubicBezTo>
                  <a:cubicBezTo>
                    <a:pt x="4379211" y="12982"/>
                    <a:pt x="4331791" y="0"/>
                    <a:pt x="4285466" y="7823"/>
                  </a:cubicBezTo>
                  <a:lnTo>
                    <a:pt x="2421405" y="322615"/>
                  </a:lnTo>
                  <a:cubicBezTo>
                    <a:pt x="2375079" y="330438"/>
                    <a:pt x="2327659" y="317456"/>
                    <a:pt x="2291778" y="287126"/>
                  </a:cubicBezTo>
                  <a:cubicBezTo>
                    <a:pt x="2255897" y="256797"/>
                    <a:pt x="2235200" y="212201"/>
                    <a:pt x="2235200" y="165219"/>
                  </a:cubicBezTo>
                  <a:lnTo>
                    <a:pt x="2235200" y="165219"/>
                  </a:lnTo>
                  <a:cubicBezTo>
                    <a:pt x="2235200" y="118239"/>
                    <a:pt x="2214502" y="73645"/>
                    <a:pt x="2178622" y="43318"/>
                  </a:cubicBezTo>
                  <a:cubicBezTo>
                    <a:pt x="2142741" y="12992"/>
                    <a:pt x="2095322" y="13"/>
                    <a:pt x="2048998" y="7841"/>
                  </a:cubicBezTo>
                  <a:lnTo>
                    <a:pt x="222144" y="316524"/>
                  </a:lnTo>
                  <a:cubicBezTo>
                    <a:pt x="93886" y="338196"/>
                    <a:pt x="0" y="449277"/>
                    <a:pt x="0" y="579353"/>
                  </a:cubicBezTo>
                  <a:lnTo>
                    <a:pt x="0" y="4703574"/>
                  </a:lnTo>
                  <a:cubicBezTo>
                    <a:pt x="0" y="4759623"/>
                    <a:pt x="24693" y="4812825"/>
                    <a:pt x="67500" y="4849005"/>
                  </a:cubicBezTo>
                  <a:cubicBezTo>
                    <a:pt x="110306" y="4885186"/>
                    <a:pt x="166879" y="4900670"/>
                    <a:pt x="222144" y="4891331"/>
                  </a:cubicBezTo>
                  <a:lnTo>
                    <a:pt x="2048998" y="4582648"/>
                  </a:lnTo>
                  <a:cubicBezTo>
                    <a:pt x="2095322" y="4574821"/>
                    <a:pt x="2142741" y="4587799"/>
                    <a:pt x="2178622" y="4618126"/>
                  </a:cubicBezTo>
                  <a:cubicBezTo>
                    <a:pt x="2214502" y="4648452"/>
                    <a:pt x="2235200" y="4693046"/>
                    <a:pt x="2235200" y="4740026"/>
                  </a:cubicBezTo>
                  <a:lnTo>
                    <a:pt x="2235200" y="4740026"/>
                  </a:lnTo>
                  <a:cubicBezTo>
                    <a:pt x="2235200" y="4787006"/>
                    <a:pt x="2255898" y="4831600"/>
                    <a:pt x="2291778" y="4861927"/>
                  </a:cubicBezTo>
                  <a:cubicBezTo>
                    <a:pt x="2327659" y="4892254"/>
                    <a:pt x="2375078" y="4905232"/>
                    <a:pt x="2421402" y="4897405"/>
                  </a:cubicBezTo>
                  <a:lnTo>
                    <a:pt x="4284199" y="4582648"/>
                  </a:lnTo>
                  <a:cubicBezTo>
                    <a:pt x="4330522" y="4574821"/>
                    <a:pt x="4377941" y="4587799"/>
                    <a:pt x="4413822" y="4618126"/>
                  </a:cubicBezTo>
                  <a:cubicBezTo>
                    <a:pt x="4449702" y="4648452"/>
                    <a:pt x="4470400" y="4693046"/>
                    <a:pt x="4470400" y="4740026"/>
                  </a:cubicBezTo>
                  <a:lnTo>
                    <a:pt x="4470400" y="4740026"/>
                  </a:lnTo>
                  <a:cubicBezTo>
                    <a:pt x="4470400" y="4787006"/>
                    <a:pt x="4491098" y="4831600"/>
                    <a:pt x="4526978" y="4861927"/>
                  </a:cubicBezTo>
                  <a:cubicBezTo>
                    <a:pt x="4562859" y="4892254"/>
                    <a:pt x="4610278" y="4905232"/>
                    <a:pt x="4656601" y="4897405"/>
                  </a:cubicBezTo>
                  <a:lnTo>
                    <a:pt x="6483456" y="4588721"/>
                  </a:lnTo>
                  <a:cubicBezTo>
                    <a:pt x="6611714" y="4567049"/>
                    <a:pt x="6705600" y="4455969"/>
                    <a:pt x="6705600" y="4325892"/>
                  </a:cubicBezTo>
                  <a:lnTo>
                    <a:pt x="6705600" y="201671"/>
                  </a:lnTo>
                  <a:cubicBezTo>
                    <a:pt x="6705600" y="145625"/>
                    <a:pt x="6680907" y="92425"/>
                    <a:pt x="6638100" y="56248"/>
                  </a:cubicBezTo>
                  <a:cubicBezTo>
                    <a:pt x="6595293" y="20071"/>
                    <a:pt x="6538722" y="4592"/>
                    <a:pt x="6483459" y="13934"/>
                  </a:cubicBezTo>
                  <a:lnTo>
                    <a:pt x="4657869" y="322580"/>
                  </a:lnTo>
                  <a:cubicBezTo>
                    <a:pt x="4611548" y="330411"/>
                    <a:pt x="4564130" y="317437"/>
                    <a:pt x="4528249" y="287113"/>
                  </a:cubicBezTo>
                  <a:cubicBezTo>
                    <a:pt x="4492368" y="256789"/>
                    <a:pt x="4471670" y="212197"/>
                    <a:pt x="4471670" y="165219"/>
                  </a:cubicBezTo>
                  <a:close/>
                </a:path>
              </a:pathLst>
            </a:custGeom>
            <a:blipFill>
              <a:blip r:embed="rId2"/>
              <a:stretch>
                <a:fillRect l="-5426" t="-597" r="-5426" b="-597"/>
              </a:stretch>
            </a:blipFill>
            <a:ln cap="rnd">
              <a:noFill/>
              <a:prstDash val="solid"/>
              <a:round/>
            </a:ln>
          </p:spPr>
        </p:sp>
      </p:grpSp>
      <p:sp>
        <p:nvSpPr>
          <p:cNvPr name="TextBox 4" id="4"/>
          <p:cNvSpPr txBox="true"/>
          <p:nvPr/>
        </p:nvSpPr>
        <p:spPr>
          <a:xfrm rot="0">
            <a:off x="1753945" y="3594857"/>
            <a:ext cx="5554899" cy="2701237"/>
          </a:xfrm>
          <a:prstGeom prst="rect">
            <a:avLst/>
          </a:prstGeom>
        </p:spPr>
        <p:txBody>
          <a:bodyPr anchor="t" rtlCol="false" tIns="0" lIns="0" bIns="0" rIns="0">
            <a:spAutoFit/>
          </a:bodyPr>
          <a:lstStyle/>
          <a:p>
            <a:pPr algn="l">
              <a:lnSpc>
                <a:spcPts val="10190"/>
              </a:lnSpc>
            </a:pPr>
            <a:r>
              <a:rPr lang="en-US" b="true" sz="11322" i="true" spc="-702">
                <a:solidFill>
                  <a:srgbClr val="F4C9B1"/>
                </a:solidFill>
                <a:latin typeface="Public Sans Bold Italics"/>
                <a:ea typeface="Public Sans Bold Italics"/>
                <a:cs typeface="Public Sans Bold Italics"/>
                <a:sym typeface="Public Sans Bold Italics"/>
              </a:rPr>
              <a:t>T</a:t>
            </a:r>
            <a:r>
              <a:rPr lang="en-US" sz="11322" spc="-702" b="true">
                <a:solidFill>
                  <a:srgbClr val="F4C9B1"/>
                </a:solidFill>
                <a:latin typeface="Public Sans Bold"/>
                <a:ea typeface="Public Sans Bold"/>
                <a:cs typeface="Public Sans Bold"/>
                <a:sym typeface="Public Sans Bold"/>
              </a:rPr>
              <a:t>hank You</a:t>
            </a:r>
          </a:p>
        </p:txBody>
      </p:sp>
      <p:sp>
        <p:nvSpPr>
          <p:cNvPr name="TextBox 5" id="5"/>
          <p:cNvSpPr txBox="true"/>
          <p:nvPr/>
        </p:nvSpPr>
        <p:spPr>
          <a:xfrm rot="0">
            <a:off x="1979311" y="8570402"/>
            <a:ext cx="3877424" cy="440733"/>
          </a:xfrm>
          <a:prstGeom prst="rect">
            <a:avLst/>
          </a:prstGeom>
        </p:spPr>
        <p:txBody>
          <a:bodyPr anchor="t" rtlCol="false" tIns="0" lIns="0" bIns="0" rIns="0">
            <a:spAutoFit/>
          </a:bodyPr>
          <a:lstStyle/>
          <a:p>
            <a:pPr algn="l">
              <a:lnSpc>
                <a:spcPts val="3230"/>
              </a:lnSpc>
            </a:pPr>
            <a:r>
              <a:rPr lang="en-US" sz="3230">
                <a:solidFill>
                  <a:srgbClr val="F4C9B1"/>
                </a:solidFill>
                <a:latin typeface="Public Sans"/>
                <a:ea typeface="Public Sans"/>
                <a:cs typeface="Public Sans"/>
                <a:sym typeface="Public Sans"/>
              </a:rPr>
              <a:t>Adam Drai</a:t>
            </a:r>
          </a:p>
        </p:txBody>
      </p:sp>
      <p:sp>
        <p:nvSpPr>
          <p:cNvPr name="TextBox 6" id="6"/>
          <p:cNvSpPr txBox="true"/>
          <p:nvPr/>
        </p:nvSpPr>
        <p:spPr>
          <a:xfrm rot="0">
            <a:off x="11505016" y="8569643"/>
            <a:ext cx="5213086" cy="442252"/>
          </a:xfrm>
          <a:prstGeom prst="rect">
            <a:avLst/>
          </a:prstGeom>
        </p:spPr>
        <p:txBody>
          <a:bodyPr anchor="t" rtlCol="false" tIns="0" lIns="0" bIns="0" rIns="0">
            <a:spAutoFit/>
          </a:bodyPr>
          <a:lstStyle/>
          <a:p>
            <a:pPr algn="r">
              <a:lnSpc>
                <a:spcPts val="3230"/>
              </a:lnSpc>
            </a:pPr>
            <a:r>
              <a:rPr lang="en-US" sz="3230">
                <a:solidFill>
                  <a:srgbClr val="F4C9B1"/>
                </a:solidFill>
                <a:latin typeface="Public Sans"/>
                <a:ea typeface="Public Sans"/>
                <a:cs typeface="Public Sans"/>
                <a:sym typeface="Public Sans"/>
              </a:rPr>
              <a:t>NYUAD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DAGfifV2Vac</dc:identifier>
  <dcterms:modified xsi:type="dcterms:W3CDTF">2011-08-01T06:04:30Z</dcterms:modified>
  <cp:revision>1</cp:revision>
  <dc:title>The Golden Age of the Chola Empire</dc:title>
</cp:coreProperties>
</file>